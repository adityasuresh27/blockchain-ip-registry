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463040" cy="1463040"/>
          </a:xfrm>
          <a:prstGeom prst="hexagon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371600"/>
            <a:ext cx="1188720" cy="1188720"/>
          </a:xfrm>
          <a:prstGeom prst="hexagon">
            <a:avLst/>
          </a:prstGeom>
          <a:solidFill>
            <a:srgbClr val="0A4C74">
              <a:alpha val="60000"/>
            </a:srgbClr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1554480"/>
            <a:ext cx="1005840" cy="1005840"/>
          </a:xfrm>
          <a:prstGeom prst="hexagon">
            <a:avLst/>
          </a:prstGeom>
          <a:solidFill>
            <a:srgbClr val="0A4C74">
              <a:alpha val="60000"/>
            </a:srgbClr>
          </a:solidFill>
          <a:ln w="12700">
            <a:solidFill>
              <a:srgbClr val="5FC9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Intellectual Property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and Licensing System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Blockchain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registration, verification, and licensing of digital creative works on an EVM-compatible Proof-of-Stake blockchain, with off-chain storage via IPFS.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0A4C7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6235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9696" y="5623560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0A4C7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56235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9312" y="56235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A4C7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5623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5623560"/>
            <a:ext cx="1133856" cy="384048"/>
          </a:xfrm>
          <a:prstGeom prst="roundRect">
            <a:avLst>
              <a:gd name="adj" fmla="val 19048"/>
            </a:avLst>
          </a:prstGeom>
          <a:solidFill>
            <a:srgbClr val="0A4C7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5623560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457200" cy="45720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27048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proof of creation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cannot easily demonstrate when a work was first created, weakening their position in disputes.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registries are fragile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300837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held by a single authority can be altered, lost, or made unavailable, with no independent way to verify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67912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licensing &amp; ownership trails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1788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transfers and licensing terms are scattered across platforms with no unified, auditable history.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29784"/>
            <a:ext cx="457200" cy="45720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038344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conflicting claims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349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or copied works can be registered elsewhere with no automated way to flag the conflict.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3977640" cy="4663440"/>
          </a:xfrm>
          <a:prstGeom prst="roundRect">
            <a:avLst>
              <a:gd name="adj" fmla="val 2299"/>
            </a:avLst>
          </a:prstGeom>
          <a:solidFill>
            <a:srgbClr val="18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Issue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9560" y="21031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intellectual-property systems are centralized and difficult to independently verify — creators need a tamper-evident, publicly auditable way to prove ownership, versions, and licensing.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09560" y="397764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38679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09560" y="448056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4370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/ opaque records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09560" y="498348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4873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authorship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5486400"/>
            <a:ext cx="128016" cy="128016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5376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dispute resolution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736092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67665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decentralized system for registering, verifying, and licensing digital intellectual property using blockchain technology. Creators upload a digital asset — code, research papers, designs, images, music, or documents — from which the system generates a cryptographic hash. This hash, along with creator identity, timestamp, and version metadata, is recorded immutably through a Solidity smart contract deployed on an EVM-compatible Proof-of-Stake blockchain, while the underlying file itself is stored off-chain on IPFS.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registry offers timestamped proof of existence, file authenticity verification, version history, ownership transfer, digital licensing, and automated detection of duplicate or conflicting claims — all accessible through a public verification page. Together, these capabilities create a transparent, tamper-evident provenance trail for digital creative work, without requiring trust in any single centralized authority.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92440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8213D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52704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092440" y="22402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on-chain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3017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8213D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312724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92440" y="3840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files,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fingerprints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4617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8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72744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92440" y="54406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 for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asset and record its fingerprint on-chain.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664208"/>
            <a:ext cx="502920" cy="50292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93592" y="2267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Proof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evidence of the exact moment of registration.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664208"/>
            <a:ext cx="502920" cy="50292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55664" y="2267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664" y="26060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Re-hash any file to confirm it matches the registered record.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463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36024" y="1664208"/>
            <a:ext cx="502920" cy="502920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17736" y="2267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17736" y="26060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revision of a work as a linked chain of updates.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8503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" y="4489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Transfer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8280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registered rights between wallet identities on-chain.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10712" y="368503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93592" y="4489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Licensing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93592" y="48280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and enforce machine-readable licensing terms.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72784" y="368503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55664" y="4489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55664" y="48280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matching or conflicting hashes across the registry.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34856" y="3685032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36024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9336024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317736" y="4489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17736" y="482803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independently confirm a claim, with no login.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550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550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1965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6550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58200" y="1965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181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EVM-compatible PoS network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29718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1181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3429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29718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1181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58200" y="3429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81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443484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81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/ Keccak-256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443484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0A4C74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581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58200" y="4892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/ WalletConnect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379476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0A4C74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2628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84502" y="1796796"/>
            <a:ext cx="102413" cy="201168"/>
          </a:xfrm>
          <a:prstGeom prst="rightArrow">
            <a:avLst/>
          </a:prstGeom>
          <a:solidFill>
            <a:srgbClr val="5B7383"/>
          </a:solidFill>
          <a:ln/>
        </p:spPr>
      </p:sp>
      <p:sp>
        <p:nvSpPr>
          <p:cNvPr id="7" name="Shape 5"/>
          <p:cNvSpPr/>
          <p:nvPr/>
        </p:nvSpPr>
        <p:spPr>
          <a:xfrm>
            <a:off x="2308860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82012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3886" y="1796796"/>
            <a:ext cx="102413" cy="201168"/>
          </a:xfrm>
          <a:prstGeom prst="rightArrow">
            <a:avLst/>
          </a:prstGeom>
          <a:solidFill>
            <a:srgbClr val="5B7383"/>
          </a:solidFill>
          <a:ln/>
        </p:spPr>
      </p:sp>
      <p:sp>
        <p:nvSpPr>
          <p:cNvPr id="10" name="Shape 8"/>
          <p:cNvSpPr/>
          <p:nvPr/>
        </p:nvSpPr>
        <p:spPr>
          <a:xfrm>
            <a:off x="4238244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0A4C74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11396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Storage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43270" y="1796796"/>
            <a:ext cx="102413" cy="201168"/>
          </a:xfrm>
          <a:prstGeom prst="rightArrow">
            <a:avLst/>
          </a:prstGeom>
          <a:solidFill>
            <a:srgbClr val="5B7383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7628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0780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72654" y="1796796"/>
            <a:ext cx="102413" cy="201168"/>
          </a:xfrm>
          <a:prstGeom prst="rightArrow">
            <a:avLst/>
          </a:prstGeom>
          <a:solidFill>
            <a:srgbClr val="5B7383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7012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0A4C74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70164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902038" y="1796796"/>
            <a:ext cx="102413" cy="201168"/>
          </a:xfrm>
          <a:prstGeom prst="rightArrow">
            <a:avLst/>
          </a:prstGeom>
          <a:solidFill>
            <a:srgbClr val="5B738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26396" y="1417320"/>
            <a:ext cx="1783080" cy="960120"/>
          </a:xfrm>
          <a:prstGeom prst="roundRect">
            <a:avLst>
              <a:gd name="adj" fmla="val 9524"/>
            </a:avLst>
          </a:prstGeom>
          <a:solidFill>
            <a:srgbClr val="18213D"/>
          </a:solidFill>
          <a:ln/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99548" y="150876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Provenance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uploads code, paper, design, image, music, or document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263140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cryptographic fingerprint is generated from the file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192524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file is stored off-chain on the InterPlanetary File System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121908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contract records hash, creator ID, timestamp &amp; version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051292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confirmed on an EVM-compatible PoS network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9980676" y="260604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tamper-evident ownership &amp; licensing history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5056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small, fixed-size hash and metadata go on-chain — the large original file stays off-chain on IPFS, keeping gas costs low while every record stays independently verifiable.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856232"/>
            <a:ext cx="0" cy="3730752"/>
          </a:xfrm>
          <a:prstGeom prst="line">
            <a:avLst/>
          </a:prstGeom>
          <a:noFill/>
          <a:ln w="25400">
            <a:solidFill>
              <a:srgbClr val="C7D6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12064" cy="512064"/>
          </a:xfrm>
          <a:prstGeom prst="ellipse">
            <a:avLst/>
          </a:prstGeom>
          <a:solidFill>
            <a:srgbClr val="0A4C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connects a MetaMask / WalletConnect wallet to establish their on-chain identity.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asset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2549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file (code, paper, design, image, music, document) is uploaded to the platform.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512064" cy="512064"/>
          </a:xfrm>
          <a:prstGeom prst="ellipse">
            <a:avLst/>
          </a:prstGeom>
          <a:solidFill>
            <a:srgbClr val="0A4C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655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47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pin to IPFS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17320" y="375818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SHA-256 / Keccak-256 hash is computed and the file is pinned to IPFS for off-chain storage.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982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799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on-chain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69087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Solidity smart contract stores the hash, creator address, timestamp, and version number.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0A4C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309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3126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license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17320" y="562356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re-hash a file to verify authenticity; owners can transfer rights or attach licenses.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5806440" cy="4617720"/>
          </a:xfrm>
          <a:prstGeom prst="roundRect">
            <a:avLst>
              <a:gd name="adj" fmla="val 1980"/>
            </a:avLst>
          </a:prstGeom>
          <a:solidFill>
            <a:srgbClr val="18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vs Off-Chain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331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(Smart Contract)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2651760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2542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hash (SHA-256 / Keccak-256)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2980944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287121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wallet address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3310128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48" y="3200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registration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3639312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5" name="Text 33"/>
          <p:cNvSpPr/>
          <p:nvPr/>
        </p:nvSpPr>
        <p:spPr>
          <a:xfrm>
            <a:off x="6784848" y="35295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number &amp; license terms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0" y="3968496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7" name="Text 35"/>
          <p:cNvSpPr/>
          <p:nvPr/>
        </p:nvSpPr>
        <p:spPr>
          <a:xfrm>
            <a:off x="6784848" y="3858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transfer records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3796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(IPFS)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4754880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40" name="Text 38"/>
          <p:cNvSpPr/>
          <p:nvPr/>
        </p:nvSpPr>
        <p:spPr>
          <a:xfrm>
            <a:off x="6784848" y="46451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digital asset itself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83680" y="5084064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42" name="Text 40"/>
          <p:cNvSpPr/>
          <p:nvPr/>
        </p:nvSpPr>
        <p:spPr>
          <a:xfrm>
            <a:off x="6784848" y="49743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binary data (images, audio, docs)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83680" y="5413248"/>
            <a:ext cx="91440" cy="91440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44" name="Text 42"/>
          <p:cNvSpPr/>
          <p:nvPr/>
        </p:nvSpPr>
        <p:spPr>
          <a:xfrm>
            <a:off x="6784848" y="5303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for integrity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&amp; Consensus Choice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A4C7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existing Proof-of-Stake, EVM-compatible blockchain (Ethereum-compatible infrastructure) — the project does not implement its own consensus mechanism.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944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security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97764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the battle-tested economic security and decentralization of an established PoS network.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9856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944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21024" y="3566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21024" y="397764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design, implement, or audit a custom consensus protocol from scratch.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944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compatibility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of the box with MetaMask, WalletConnect, ethers.js, and standard EVM tooling.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62288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63456" y="2944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363456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3456" y="356616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footprint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63456" y="397764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Proof-of-Stake avoids the heavy energy costs associated with Proof-of-Work mining.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5120640"/>
            <a:ext cx="1645920" cy="1645920"/>
          </a:xfrm>
          <a:prstGeom prst="hexagon">
            <a:avLst/>
          </a:prstGeom>
          <a:solidFill>
            <a:srgbClr val="0A4C74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-365760"/>
            <a:ext cx="1463040" cy="1463040"/>
          </a:xfrm>
          <a:prstGeom prst="hexagon">
            <a:avLst/>
          </a:prstGeom>
          <a:solidFill>
            <a:srgbClr val="0A4C74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LIMITATION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515600" cy="3566160"/>
          </a:xfrm>
          <a:prstGeom prst="roundRect">
            <a:avLst>
              <a:gd name="adj" fmla="val 3590"/>
            </a:avLst>
          </a:prstGeom>
          <a:solidFill>
            <a:srgbClr val="0A4C74">
              <a:alpha val="75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8308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proves that a particular hash was registered by a particular blockchain identity at a particular time.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9784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42900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automatically prove legal ownership, nor that the registrant was the original creator of the work.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establishes a strong evidentiary trail — it is a complement to, not a replacement for, legal processes of establishing authorship and ownership.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64008"/>
          </a:xfrm>
          <a:prstGeom prst="roundRect">
            <a:avLst>
              <a:gd name="adj" fmla="val 42857"/>
            </a:avLst>
          </a:prstGeom>
          <a:solidFill>
            <a:srgbClr val="5FC9C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48256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NFT-based tokenization of registered IP for tradeable ownership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34640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15184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provenance bridging across multiple EVM networks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621024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0156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similarity search for duplicate / plagiarism detection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407408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87952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DAO-based community dispute-resolution mechanism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74336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E2E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193792"/>
            <a:ext cx="219456" cy="219456"/>
          </a:xfrm>
          <a:prstGeom prst="ellipse">
            <a:avLst/>
          </a:prstGeom>
          <a:solidFill>
            <a:srgbClr val="0A4C7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974336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on-the-go registration and verification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4572000" cy="4709160"/>
          </a:xfrm>
          <a:prstGeom prst="roundRect">
            <a:avLst>
              <a:gd name="adj" fmla="val 2400"/>
            </a:avLst>
          </a:prstGeom>
          <a:solidFill>
            <a:srgbClr val="18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21488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anchoring cryptographic fingerprints of creative work on a public, immutable blockchain — while keeping the files themselves on IPFS — the system gives digital creators an independent, tamper-evident, and publicly verifiable record of their intellectual property, from first creation through licensing and ownership transfer.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4663440"/>
            <a:ext cx="109728" cy="109728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0" y="5047488"/>
            <a:ext cx="109728" cy="109728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928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0" y="5431536"/>
            <a:ext cx="109728" cy="109728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53126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0" y="5815584"/>
            <a:ext cx="109728" cy="109728"/>
          </a:xfrm>
          <a:prstGeom prst="ellipse">
            <a:avLst/>
          </a:prstGeom>
          <a:solidFill>
            <a:srgbClr val="5FC9C0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5696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verifiable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2026-08-13T10:12:16Z</dcterms:created>
  <dcterms:modified xsi:type="dcterms:W3CDTF">2026-08-13T10:12:16Z</dcterms:modified>
</cp:coreProperties>
</file>